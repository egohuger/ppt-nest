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本司当前</c:v>
                </c:pt>
              </c:strCache>
            </c:strRef>
          </c:tx>
          <c:spPr>
            <a:solidFill>
              <a:srgbClr val="C7D2E0"/>
            </a:solidFill>
          </c:spPr>
          <c:cat>
            <c:strRef>
              <c:f>Sheet1!$A$2:$A$6</c:f>
              <c:strCache>
                <c:ptCount val="5"/>
                <c:pt idx="0">
                  <c:v>部门经理</c:v>
                </c:pt>
                <c:pt idx="1">
                  <c:v>高级工程师</c:v>
                </c:pt>
                <c:pt idx="2">
                  <c:v>资深专员</c:v>
                </c:pt>
                <c:pt idx="3">
                  <c:v>技能骨干</c:v>
                </c:pt>
                <c:pt idx="4">
                  <c:v>营销主管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</c:v>
                </c:pt>
                <c:pt idx="1">
                  <c:v>22.4</c:v>
                </c:pt>
                <c:pt idx="2">
                  <c:v>16.8</c:v>
                </c:pt>
                <c:pt idx="3">
                  <c:v>12.5</c:v>
                </c:pt>
                <c:pt idx="4">
                  <c:v>15.2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市场 50 分位</c:v>
                </c:pt>
              </c:strCache>
            </c:strRef>
          </c:tx>
          <c:spPr>
            <a:solidFill>
              <a:srgbClr val="93B4E3"/>
            </a:solidFill>
          </c:spPr>
          <c:cat>
            <c:strRef>
              <c:f>Sheet1!$A$2:$A$6</c:f>
              <c:strCache>
                <c:ptCount val="5"/>
                <c:pt idx="0">
                  <c:v>部门经理</c:v>
                </c:pt>
                <c:pt idx="1">
                  <c:v>高级工程师</c:v>
                </c:pt>
                <c:pt idx="2">
                  <c:v>资深专员</c:v>
                </c:pt>
                <c:pt idx="3">
                  <c:v>技能骨干</c:v>
                </c:pt>
                <c:pt idx="4">
                  <c:v>营销主管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24.0</c:v>
                </c:pt>
                <c:pt idx="1">
                  <c:v>27.5</c:v>
                </c:pt>
                <c:pt idx="2">
                  <c:v>21.0</c:v>
                </c:pt>
                <c:pt idx="3">
                  <c:v>15.0</c:v>
                </c:pt>
                <c:pt idx="4">
                  <c:v>19.5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目标水平</c:v>
                </c:pt>
              </c:strCache>
            </c:strRef>
          </c:tx>
          <c:spPr>
            <a:solidFill>
              <a:srgbClr val="1E3A5F"/>
            </a:solidFill>
          </c:spPr>
          <c:cat>
            <c:strRef>
              <c:f>Sheet1!$A$2:$A$6</c:f>
              <c:strCache>
                <c:ptCount val="5"/>
                <c:pt idx="0">
                  <c:v>部门经理</c:v>
                </c:pt>
                <c:pt idx="1">
                  <c:v>高级工程师</c:v>
                </c:pt>
                <c:pt idx="2">
                  <c:v>资深专员</c:v>
                </c:pt>
                <c:pt idx="3">
                  <c:v>技能骨干</c:v>
                </c:pt>
                <c:pt idx="4">
                  <c:v>营销主管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26.5</c:v>
                </c:pt>
                <c:pt idx="1">
                  <c:v>31.0</c:v>
                </c:pt>
                <c:pt idx="2">
                  <c:v>23.5</c:v>
                </c:pt>
                <c:pt idx="3">
                  <c:v>17.0</c:v>
                </c:pt>
                <c:pt idx="4">
                  <c:v>23.0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395728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4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组织与人力资源体系优化方案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74519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XX 城投集团 · 人力资源咨询项目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401568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岗位 · 职级 · 薪酬 · 绩效 一体化设计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4041648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15968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示例素材：用于首次使用引导与本机速度标定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可随时删除，不影响软件功能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2026 年 · 管理咨询事业部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五个部分，从诊断到落地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0008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现状诊断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42615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组织、岗位、人员、薪酬四个维度的现状与问题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81527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9815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组织架构优化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92423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从职能梳理到目标架构与部门职责界定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5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49623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岗位与职级体系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42231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岗位序列划分、职级通道与岗位价值评估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81144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99431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薪酬与绩效设计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9204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薪酬结构、外部对标、绩效管理框架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30952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4924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实施路径与保障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641848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三期推进计划、风险预判与配套机制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21408"/>
            <a:ext cx="74980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5B7FAE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803904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用统一口径看清组织与人员的真实状态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诊断路径：四步看清底数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01 现状诊断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资料研读 → 数据测算 → 访谈验证 → 问题归集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EEB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01  资料研读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2999232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制度文件、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组织手册、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岗位说明书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64408" y="3127248"/>
            <a:ext cx="384048" cy="329184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5032" y="2514600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EEB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02  数据测算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2999232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编制与在岗、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人均效能、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薪酬分位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0760" y="3127248"/>
            <a:ext cx="384048" cy="329184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01384" y="2514600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EEB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03  访谈验证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999232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高管、中层、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骨干与一线，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覆盖 3 个层级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97112" y="3127248"/>
            <a:ext cx="384048" cy="329184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17736" y="2514600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EEB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04  问题归集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999232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按组织 / 岗位 /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薪酬 / 绩效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四类归档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98848"/>
            <a:ext cx="10454335" cy="8229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45152"/>
            <a:ext cx="999713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本次诊断共覆盖 4 个业务板块、18 个部门、236 个岗位，形成 1 份诊断报告与 3 张问题清单。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五个核心发现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01 现状诊断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从组织到激励，问题沿着链条逐层传导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0428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3113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职能交叉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9424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3 个部门同时承担资产管理职能，审批链条平均 4.2 个节点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90672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层级偏多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35808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集团到一线最多 6 层，管理跨度均值仅 4.1 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77055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03903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岗位序列缺失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822191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技术、技能、营销岗位共用管理通道，晋升通道单一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6344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902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薪酬结构失衡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608576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固定与浮动比例 9:1，绩效差异无法体现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49824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76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考核与战略脱节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394960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部门指标与三年战略目标对接率不足 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组织架构现状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01 现状诊断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集团—板块—部门三级架构，管控界面尚不清晰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38547" y="224028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集团总部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2131" y="2807208"/>
            <a:ext cx="27432" cy="246887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4832" y="3040379"/>
            <a:ext cx="8010143" cy="27432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71116" y="3054096"/>
            <a:ext cx="27432" cy="256032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310128"/>
            <a:ext cx="2432304" cy="54864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城市建设板块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1164" y="3054096"/>
            <a:ext cx="27432" cy="256032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8728" y="3310128"/>
            <a:ext cx="2432304" cy="54864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资产运营板块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1212" y="3054096"/>
            <a:ext cx="27432" cy="256032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3310128"/>
            <a:ext cx="2432304" cy="54864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公共服务板块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1259" y="3054096"/>
            <a:ext cx="27432" cy="256032"/>
          </a:xfrm>
          <a:prstGeom prst="rect">
            <a:avLst/>
          </a:prstGeom>
          <a:solidFill>
            <a:srgbClr val="B8C4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8824" y="3310128"/>
            <a:ext cx="2432304" cy="54864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产业投资板块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279392"/>
            <a:ext cx="10454335" cy="960120"/>
          </a:xfrm>
          <a:prstGeom prst="roundRect">
            <a:avLst>
              <a:gd name="adj" fmla="val 5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708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集团总部内设部门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综合管理部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人力资源部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财务部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投资发展部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6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工程管理部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47183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审计法务部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问题：板块之间职能边界模糊，总部部门对下管控偏运营、缺赋能；同一职能在总部与板块重复设置，导致决策慢、责任难追溯。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人员与岗位现状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01 现状诊断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总量不缺，结构性缺员与冗余并存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286000"/>
          <a:ext cx="886968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34440"/>
                <a:gridCol w="1234440"/>
                <a:gridCol w="1234440"/>
                <a:gridCol w="123444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部门数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编制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在岗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缺员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人均营收(万元)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集团总部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城市建设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620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586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-34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182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资产运营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公共服务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880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912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+32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产业投资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1870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1840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-30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5504688"/>
            <a:ext cx="104543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公共服务板块超编 32 人，一线技能岗缺口 40 余人；总部管理岗与管理幅度不匹配，人均管理跨度偏低。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21408"/>
            <a:ext cx="74980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5B7FAE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组织架构优化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803904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把该总部管的收上来，把该板块干的放下去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五条优化原则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 组织架构优化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先定管控模式，再动架构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35607" y="2468880"/>
            <a:ext cx="1051560" cy="1051560"/>
          </a:xfrm>
          <a:prstGeom prst="ellipse">
            <a:avLst/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75887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战略导向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架构服务于三年战略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1" y="2468880"/>
            <a:ext cx="1051560" cy="1051560"/>
          </a:xfrm>
          <a:prstGeom prst="ellipse">
            <a:avLst/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3675887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权责对等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3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决策权跟着责任走</a:t>
            </a:r>
          </a:p>
        </p:txBody>
      </p:sp>
      <p:sp>
        <p:nvSpPr>
          <p:cNvPr id="16" name="Oval 15"/>
          <p:cNvSpPr/>
          <p:nvPr/>
        </p:nvSpPr>
        <p:spPr>
          <a:xfrm>
            <a:off x="5751576" y="2468880"/>
            <a:ext cx="1051560" cy="1051560"/>
          </a:xfrm>
          <a:prstGeom prst="ellipse">
            <a:avLst/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3675887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界面清晰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一件事只有一个主责</a:t>
            </a:r>
          </a:p>
        </p:txBody>
      </p:sp>
      <p:sp>
        <p:nvSpPr>
          <p:cNvPr id="19" name="Oval 18"/>
          <p:cNvSpPr/>
          <p:nvPr/>
        </p:nvSpPr>
        <p:spPr>
          <a:xfrm>
            <a:off x="7909559" y="2468880"/>
            <a:ext cx="1051560" cy="1051560"/>
          </a:xfrm>
          <a:prstGeom prst="ellipse">
            <a:avLst/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3675887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跨度合理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管理跨度 6—10 人</a:t>
            </a:r>
          </a:p>
        </p:txBody>
      </p:sp>
      <p:sp>
        <p:nvSpPr>
          <p:cNvPr id="22" name="Oval 21"/>
          <p:cNvSpPr/>
          <p:nvPr/>
        </p:nvSpPr>
        <p:spPr>
          <a:xfrm>
            <a:off x="10067543" y="2468880"/>
            <a:ext cx="1051560" cy="1051560"/>
          </a:xfrm>
          <a:prstGeom prst="ellipse">
            <a:avLst/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5" y="3675887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精简高效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层级压到 4 层以内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754880"/>
            <a:ext cx="104543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5DE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01184"/>
            <a:ext cx="99971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2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管控模式建议：集团定位「战略 + 财务 + 人事」管控，板块定位「业务运营中心」，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20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总部负责规则与赋能，板块负责经营结果。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目标组织架构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 组织架构优化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三层架构 + 共享服务中心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63040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集团总部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72768"/>
            <a:ext cx="7132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战略投资 · 财务管控 · 人力资源 · 审计法务 · 数字化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63240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72968"/>
            <a:ext cx="7132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城市建设 · 资产运营 · 公共服务 · 产业投资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63440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项目/分公司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773168"/>
            <a:ext cx="7132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按区域与项目设置，统一由板块管理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05856"/>
            <a:ext cx="10454335" cy="566928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797296"/>
            <a:ext cx="1008857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新增财务共享中心与人力共享中心，承接核算、报销、社保、招聘等事务性工作。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部门职责调整对照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 组织架构优化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同一职能只留一个主责部门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286000"/>
          <a:ext cx="1046988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47091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职能事项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调整前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调整后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资产管理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资产管理部、财务部、工程部三方共管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统一由资产管理部主责，财务部只做账务核算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招标采购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总部与板块各自组织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万元以上由总部集中采购，以下板块自行组织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人事管理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总部管中层，板块管全员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总部定规则与干部，板块负责全员日常管理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数据报表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各部门自行统计、口径不一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数字化中心统一口径，月度自动出具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21408"/>
            <a:ext cx="74980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5B7FAE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岗位与职级体系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803904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让每个岗位都有清晰的成长通道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岗位序列划分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03 岗位与职级体系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五条序列，管理之外还有专业通道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286000"/>
          <a:ext cx="104698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1371600"/>
                <a:gridCol w="24231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覆盖岗位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岗位数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晋升主通道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集团及板块中高层管理岗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M1—M5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专业序列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投资、财务、人力、法务、工程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412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P1—P7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设计、造价、施工技术、运维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T1—T8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技能序列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驾驶、维修、安保、操作工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736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S1—S6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营销序列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招商、销售、客户服务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H1—H5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职级通道设计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03 岗位与职级体系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管理与专业并行，横向可转换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68296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191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/>
                <a:ea typeface="微软雅黑"/>
                <a:cs typeface="微软雅黑"/>
              </a:rPr>
              <a:t>总经理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17520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683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/>
                <a:ea typeface="微软雅黑"/>
                <a:cs typeface="微软雅黑"/>
              </a:rPr>
              <a:t>副总经理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66744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8176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/>
                <a:ea typeface="微软雅黑"/>
                <a:cs typeface="微软雅黑"/>
              </a:rPr>
              <a:t>部门经理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15968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4668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/>
                <a:ea typeface="微软雅黑"/>
                <a:cs typeface="微软雅黑"/>
              </a:rPr>
              <a:t>副经理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65192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116067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/>
                <a:ea typeface="微软雅黑"/>
                <a:cs typeface="微软雅黑"/>
              </a:rPr>
              <a:t>主管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9933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管理序列　M1—M5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368296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26425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专家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832027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890157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资深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295758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3538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高级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759490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81761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中级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223221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281351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初级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686953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74508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助理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5150684"/>
            <a:ext cx="1234440" cy="3722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20881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见习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19933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专业序列　P1—P7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2331720"/>
            <a:ext cx="3063240" cy="3246120"/>
          </a:xfrm>
          <a:prstGeom prst="roundRect">
            <a:avLst>
              <a:gd name="adj" fmla="val 5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49631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通道转换规则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953512"/>
            <a:ext cx="265176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专业序列 P5 及以上，可竞聘管理序列 M2 岗位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管理序列任满 2 年，可平级转专业序列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技术序列 T6 及以上，享受部门副职待遇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跨序列转换需通过岗位价值评估与任职资格认证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岗位价值评估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03 岗位与职级体系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七因素法，权重合计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240280"/>
          <a:ext cx="1046988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70866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评估因素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评估要点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责任风险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决策影响范围、失误后果、资产与人员责任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知识经验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学历、专业资质、经验年限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管理幅度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直接下属数量、跨部门协调复杂度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沟通难度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12%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对内对外沟通层级与频次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解决问题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问题的常规性与创新要求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工作环境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8%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现场作业风险、外勤与驻场比例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业绩贡献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对营收、成本、效率的直接贡献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21408"/>
            <a:ext cx="74980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5B7FAE"/>
                </a:solidFill>
                <a:latin typeface="微软雅黑"/>
                <a:ea typeface="微软雅黑"/>
                <a:cs typeface="微软雅黑"/>
              </a:rPr>
              <a:t>04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薪酬与绩效设计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803904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把有限的薪酬花在关键岗位上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薪酬结构与固浮比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 薪酬与绩效设计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不同序列差异化设计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286000"/>
          <a:ext cx="1088136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2468880"/>
                <a:gridCol w="146304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固定部分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浮动部分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浮动占比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设计要点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岗位工资 + 津贴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年度绩效 + 超额分享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40%—50%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与经营结果强挂钩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专业序列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岗位工资 + 能力工资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季度绩效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20%—30%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强调专业能力成长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岗位工资 + 技能津贴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项目奖金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25%—35%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按项目难度与交付质量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技能序列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岗位工资 + 计件/工时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月度绩效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15%—25%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多劳多得、稳定队伍</a:t>
                      </a:r>
                    </a:p>
                  </a:txBody>
                  <a:tcPr marL="73152" marR="73152" anchor="ctr">
                    <a:solidFill>
                      <a:srgbClr val="EF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B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营销序列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提成 + 季度奖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50%—60%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高浮动、强激励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薪酬外部对标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 薪酬与绩效设计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关键岗位目标定位市场 50—75 分位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2194560"/>
          <a:ext cx="74066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58200" y="23774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788920"/>
            <a:ext cx="30175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关键岗位普遍低于市场 50 分位 15%—25%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技能骨干流失率高于行业均值 6 个百分点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建议用两年时间分批补到目标水平，优先技术序列与营销序列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绩效管理框架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 薪酬与绩效设计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目标—过程—评价—应用 四环闭合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487168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80"/>
            <a:ext cx="21579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战略解码到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部门与个人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19272" y="2999232"/>
            <a:ext cx="365760" cy="31089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487168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过程辅导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26080"/>
            <a:ext cx="21579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季度复盘 +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年中调整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08192" y="2999232"/>
            <a:ext cx="365760" cy="31089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487168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绩效评价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926080"/>
            <a:ext cx="21579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业绩 70%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能力态度 30%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97112" y="2999232"/>
            <a:ext cx="365760" cy="31089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2487168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结果应用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926080"/>
            <a:ext cx="21579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薪酬、晋升、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培训、退出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224528"/>
            <a:ext cx="10454335" cy="1554480"/>
          </a:xfrm>
          <a:prstGeom prst="roundRect">
            <a:avLst>
              <a:gd name="adj" fmla="val 5000"/>
            </a:avLst>
          </a:prstGeom>
          <a:solidFill>
            <a:srgbClr val="EF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70832"/>
            <a:ext cx="99971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配套机制：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· 部门指标不超过 6 项，个人指标不超过 4 项，避免「指标满天飞」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· 强制分布改为「区分度控制」，前 20% 与后 10% 必须拉开差距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0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· 连续两年末位，进入岗位调整或退出程序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21408"/>
            <a:ext cx="74980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5B7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实施路径与保障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803904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分三期推进，先试点再推开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68680"/>
            <a:ext cx="10545775" cy="621792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三期推进计划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82296" cy="23774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3891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05 实施路径与保障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45775" cy="10972"/>
          </a:xfrm>
          <a:prstGeom prst="rect">
            <a:avLst/>
          </a:prstGeom>
          <a:solidFill>
            <a:srgbClr val="D5DE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组织与人力资源体系优化方案 · 示例素材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18 个月完成体系落地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82296" cy="1097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9572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第一期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第 1—6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9572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组织与岗位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43200"/>
            <a:ext cx="7406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架构调整、部门职责界定、岗位说明书修订、序列与职级套改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127248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交付：组织手册、岗位说明书、职级套改方案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675887"/>
            <a:ext cx="82296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94175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第二期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59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第 7—12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94175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薪酬与绩效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041648"/>
            <a:ext cx="7406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薪酬套改、绩效制度发布、试点运行、季度复盘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425696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交付：薪酬制度、绩效管理办法、试点报告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74336"/>
            <a:ext cx="82296" cy="10972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992623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微软雅黑"/>
                <a:ea typeface="微软雅黑"/>
                <a:cs typeface="微软雅黑"/>
              </a:rPr>
              <a:t>第三期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32180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第 13—18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992623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固化与优化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340096"/>
            <a:ext cx="7406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全员宣贯、系统上线、年度评估、机制迭代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724144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交付：制度汇编、系统上线报告、年度评估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欢迎就组织、岗位、薪酬、绩效的具体问题继续交流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8448" y="4224528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8521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E93AD"/>
                </a:solidFill>
                <a:latin typeface="微软雅黑"/>
                <a:ea typeface="微软雅黑"/>
                <a:cs typeface="微软雅黑"/>
              </a:rPr>
              <a:t>本文件为软件内置示例素材，内容为虚构案例，可随意删除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EB8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